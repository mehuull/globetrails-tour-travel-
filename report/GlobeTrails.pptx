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70" r:id="rId5"/>
    <p:sldId id="262" r:id="rId6"/>
    <p:sldId id="259" r:id="rId7"/>
    <p:sldId id="260" r:id="rId8"/>
    <p:sldId id="275" r:id="rId9"/>
    <p:sldId id="263" r:id="rId10"/>
    <p:sldId id="264" r:id="rId11"/>
    <p:sldId id="265" r:id="rId12"/>
    <p:sldId id="272" r:id="rId13"/>
    <p:sldId id="273" r:id="rId14"/>
    <p:sldId id="266" r:id="rId15"/>
    <p:sldId id="274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2F02"/>
    <a:srgbClr val="4579D6"/>
    <a:srgbClr val="DCEAFB"/>
    <a:srgbClr val="9DBDB8"/>
    <a:srgbClr val="E6E6E6"/>
    <a:srgbClr val="747474"/>
    <a:srgbClr val="F0E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2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1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9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6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8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9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2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72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37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36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9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71884-A841-4B4E-A1F5-F05C65A7DFD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C58B7-4726-429A-A91B-3B89A527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22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1086"/>
            <a:ext cx="12192000" cy="39189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" y="3805520"/>
            <a:ext cx="12192000" cy="3052480"/>
          </a:xfrm>
          <a:prstGeom prst="rect">
            <a:avLst/>
          </a:prstGeom>
          <a:solidFill>
            <a:srgbClr val="4579D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40574" y="2749452"/>
            <a:ext cx="7710853" cy="3147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6000" dirty="0">
              <a:solidFill>
                <a:schemeClr val="bg1"/>
              </a:solidFill>
              <a:latin typeface="Tw Cen MT Condensed" panose="020B0606020104020203" pitchFamily="34" charset="0"/>
              <a:cs typeface="Zawya Pro Wide Normal" pitchFamily="50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14650" y="3193463"/>
            <a:ext cx="636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  <a:cs typeface="Zawya Pro Wide Normal" pitchFamily="50" charset="-78"/>
              </a:rPr>
              <a:t>GlobeTrails</a:t>
            </a:r>
            <a:r>
              <a:rPr lang="en-US" sz="4800" dirty="0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  <a:cs typeface="Zawya Pro Wide Normal" pitchFamily="50" charset="-78"/>
              </a:rPr>
              <a:t>-Tour &amp; Travel app</a:t>
            </a:r>
            <a:endParaRPr lang="en-IN" sz="4800" dirty="0">
              <a:solidFill>
                <a:schemeClr val="accent1">
                  <a:lumMod val="50000"/>
                </a:schemeClr>
              </a:solidFill>
              <a:latin typeface="Big Shoulders Text" pitchFamily="2" charset="0"/>
              <a:cs typeface="Zawya Pro Wide Normal" pitchFamily="50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7015" y="4607169"/>
            <a:ext cx="7209693" cy="914400"/>
          </a:xfrm>
          <a:prstGeom prst="rect">
            <a:avLst/>
          </a:prstGeom>
          <a:solidFill>
            <a:srgbClr val="DCEA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</a:rPr>
              <a:t>Domestic &amp; International Packages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Big Shoulders Text" pitchFamily="2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130800" y="1620911"/>
            <a:ext cx="1656080" cy="16560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242560" y="1735797"/>
            <a:ext cx="1432560" cy="14325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48" y="418751"/>
            <a:ext cx="2595200" cy="6373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267" y="1780378"/>
            <a:ext cx="1337145" cy="13371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830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000">
              <a:schemeClr val="bg2">
                <a:tint val="90000"/>
                <a:satMod val="92000"/>
                <a:lumMod val="120000"/>
              </a:schemeClr>
            </a:gs>
            <a:gs pos="94000">
              <a:schemeClr val="bg2">
                <a:shade val="98000"/>
                <a:satMod val="120000"/>
                <a:lumMod val="98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5EF8E030-BA11-A189-1FAB-0D3AC6AEB6CE}"/>
              </a:ext>
            </a:extLst>
          </p:cNvPr>
          <p:cNvSpPr txBox="1">
            <a:spLocks/>
          </p:cNvSpPr>
          <p:nvPr/>
        </p:nvSpPr>
        <p:spPr>
          <a:xfrm>
            <a:off x="700901" y="513080"/>
            <a:ext cx="6248539" cy="12750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b="1" dirty="0" smtClean="0">
                <a:solidFill>
                  <a:srgbClr val="EB2F02"/>
                </a:solidFill>
                <a:latin typeface="Big Shoulders Text" pitchFamily="2" charset="0"/>
              </a:rPr>
              <a:t>Group No : </a:t>
            </a:r>
            <a:r>
              <a:rPr lang="en" b="1" dirty="0" smtClean="0">
                <a:latin typeface="Big Shoulders Text" pitchFamily="2" charset="0"/>
              </a:rPr>
              <a:t>242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EB2F02"/>
                </a:solidFill>
                <a:latin typeface="Big Shoulders Text" pitchFamily="2" charset="0"/>
              </a:rPr>
              <a:t>Guided by  : </a:t>
            </a:r>
            <a:r>
              <a:rPr lang="en-IN" b="1" dirty="0" err="1" smtClean="0">
                <a:latin typeface="Big Shoulders Text" pitchFamily="2" charset="0"/>
              </a:rPr>
              <a:t>Prof.</a:t>
            </a:r>
            <a:r>
              <a:rPr lang="en-IN" b="1" dirty="0" smtClean="0">
                <a:latin typeface="Big Shoulders Text" pitchFamily="2" charset="0"/>
              </a:rPr>
              <a:t> </a:t>
            </a:r>
            <a:r>
              <a:rPr lang="en-IN" b="1" dirty="0" err="1" smtClean="0">
                <a:latin typeface="Big Shoulders Text" pitchFamily="2" charset="0"/>
              </a:rPr>
              <a:t>Disha</a:t>
            </a:r>
            <a:r>
              <a:rPr lang="en-IN" b="1" dirty="0" smtClean="0">
                <a:latin typeface="Big Shoulders Text" pitchFamily="2" charset="0"/>
              </a:rPr>
              <a:t> </a:t>
            </a:r>
            <a:r>
              <a:rPr lang="en-IN" b="1" dirty="0" err="1" smtClean="0">
                <a:latin typeface="Big Shoulders Text" pitchFamily="2" charset="0"/>
              </a:rPr>
              <a:t>Nalwala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204206-C905-06AB-9DBE-EACAFF08FE2F}"/>
              </a:ext>
            </a:extLst>
          </p:cNvPr>
          <p:cNvSpPr/>
          <p:nvPr/>
        </p:nvSpPr>
        <p:spPr>
          <a:xfrm>
            <a:off x="523354" y="400438"/>
            <a:ext cx="159893" cy="1275962"/>
          </a:xfrm>
          <a:prstGeom prst="rect">
            <a:avLst/>
          </a:prstGeom>
          <a:solidFill>
            <a:srgbClr val="EB2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812"/>
              </p:ext>
            </p:extLst>
          </p:nvPr>
        </p:nvGraphicFramePr>
        <p:xfrm>
          <a:off x="396240" y="3383279"/>
          <a:ext cx="11562081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09590559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6263324"/>
                    </a:ext>
                  </a:extLst>
                </a:gridCol>
                <a:gridCol w="7406641">
                  <a:extLst>
                    <a:ext uri="{9D8B030D-6E8A-4147-A177-3AD203B41FA5}">
                      <a16:colId xmlns:a16="http://schemas.microsoft.com/office/drawing/2014/main" val="1031064607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002060"/>
                          </a:solidFill>
                          <a:latin typeface="Big Shoulders Text" pitchFamily="2" charset="0"/>
                        </a:rPr>
                        <a:t>Exam</a:t>
                      </a:r>
                      <a:r>
                        <a:rPr lang="en-US" sz="2400" baseline="0" dirty="0" smtClean="0">
                          <a:solidFill>
                            <a:srgbClr val="002060"/>
                          </a:solidFill>
                          <a:latin typeface="Big Shoulders Text" pitchFamily="2" charset="0"/>
                        </a:rPr>
                        <a:t> NO.</a:t>
                      </a:r>
                      <a:endParaRPr lang="en-IN" sz="2400" dirty="0">
                        <a:solidFill>
                          <a:srgbClr val="002060"/>
                        </a:solidFill>
                        <a:latin typeface="Big Shoulders Tex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smtClean="0">
                          <a:solidFill>
                            <a:srgbClr val="002060"/>
                          </a:solidFill>
                          <a:latin typeface="Big Shoulders Text" pitchFamily="2" charset="0"/>
                        </a:rPr>
                        <a:t>Roll NO.</a:t>
                      </a:r>
                      <a:endParaRPr lang="en-IN" sz="2400" dirty="0" smtClean="0">
                        <a:solidFill>
                          <a:srgbClr val="002060"/>
                        </a:solidFill>
                        <a:latin typeface="Big Shoulders Tex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002060"/>
                          </a:solidFill>
                          <a:latin typeface="Big Shoulders Text" pitchFamily="2" charset="0"/>
                        </a:rPr>
                        <a:t>Name</a:t>
                      </a:r>
                      <a:r>
                        <a:rPr lang="en-US" sz="2400" baseline="0" dirty="0" smtClean="0">
                          <a:solidFill>
                            <a:srgbClr val="002060"/>
                          </a:solidFill>
                          <a:latin typeface="Big Shoulders Text" pitchFamily="2" charset="0"/>
                        </a:rPr>
                        <a:t> of student</a:t>
                      </a:r>
                      <a:endParaRPr lang="en-IN" sz="2400" dirty="0" smtClean="0">
                        <a:solidFill>
                          <a:srgbClr val="002060"/>
                        </a:solidFill>
                        <a:latin typeface="Big Shoulders Tex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313769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9884</a:t>
                      </a:r>
                      <a:endParaRPr lang="en-IN" sz="1800" dirty="0" smtClean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310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Rana Mehul 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Chandrakantbhai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.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612249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7271</a:t>
                      </a:r>
                      <a:endParaRPr lang="en-IN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372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Tiwari 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Shani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Pappubhai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.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291134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6713</a:t>
                      </a:r>
                      <a:endParaRPr lang="en-IN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037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Agarwal Samarth 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Rajkumar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Jost Medium" pitchFamily="2" charset="0"/>
                          <a:ea typeface="Jost Medium" pitchFamily="2" charset="0"/>
                        </a:rPr>
                        <a:t>.</a:t>
                      </a:r>
                      <a:endParaRPr lang="en-IN" sz="1800" dirty="0">
                        <a:solidFill>
                          <a:srgbClr val="002060"/>
                        </a:solidFill>
                        <a:latin typeface="Jost Medium" pitchFamily="2" charset="0"/>
                        <a:ea typeface="Jost Medium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91763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4277360" y="2120681"/>
            <a:ext cx="3992880" cy="687314"/>
            <a:chOff x="4226560" y="3578320"/>
            <a:chExt cx="3992880" cy="687314"/>
          </a:xfrm>
        </p:grpSpPr>
        <p:sp>
          <p:nvSpPr>
            <p:cNvPr id="5" name="TextBox 4"/>
            <p:cNvSpPr txBox="1"/>
            <p:nvPr/>
          </p:nvSpPr>
          <p:spPr>
            <a:xfrm>
              <a:off x="4429760" y="3578320"/>
              <a:ext cx="3586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rgbClr val="FF0000"/>
                  </a:solidFill>
                  <a:latin typeface="Big Shoulders Text" pitchFamily="2" charset="0"/>
                </a:rPr>
                <a:t>BCA SEM 5 A.Y. 2025-26</a:t>
              </a:r>
              <a:endParaRPr lang="en-IN" sz="2400" dirty="0">
                <a:solidFill>
                  <a:srgbClr val="FF0000"/>
                </a:solidFill>
                <a:latin typeface="Big Shoulders Text" pitchFamily="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26560" y="3957857"/>
              <a:ext cx="39928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ig Shoulders Text" pitchFamily="2" charset="0"/>
                </a:rPr>
                <a:t>SDJ INTERNATIONAL COLLEGE (VESU)</a:t>
              </a:r>
              <a:endPara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Text" pitchFamily="2" charset="0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008" y="719760"/>
            <a:ext cx="2595200" cy="63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8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21360" y="1579880"/>
            <a:ext cx="3184622" cy="660400"/>
            <a:chOff x="721360" y="1579880"/>
            <a:chExt cx="3184622" cy="660400"/>
          </a:xfrm>
        </p:grpSpPr>
        <p:sp>
          <p:nvSpPr>
            <p:cNvPr id="4" name="Rounded Rectangle 3"/>
            <p:cNvSpPr/>
            <p:nvPr/>
          </p:nvSpPr>
          <p:spPr>
            <a:xfrm>
              <a:off x="721360" y="1579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01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67583" y="172541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Introduction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1040" y="3230880"/>
            <a:ext cx="3163227" cy="660400"/>
            <a:chOff x="701040" y="3230880"/>
            <a:chExt cx="3163227" cy="660400"/>
          </a:xfrm>
        </p:grpSpPr>
        <p:sp>
          <p:nvSpPr>
            <p:cNvPr id="5" name="Rounded Rectangle 4"/>
            <p:cNvSpPr/>
            <p:nvPr/>
          </p:nvSpPr>
          <p:spPr>
            <a:xfrm>
              <a:off x="701040" y="3230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03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25868" y="337387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Client Profile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21360" y="4947920"/>
            <a:ext cx="3184622" cy="660400"/>
            <a:chOff x="721360" y="4947920"/>
            <a:chExt cx="3184622" cy="660400"/>
          </a:xfrm>
        </p:grpSpPr>
        <p:sp>
          <p:nvSpPr>
            <p:cNvPr id="9" name="Rounded Rectangle 8"/>
            <p:cNvSpPr/>
            <p:nvPr/>
          </p:nvSpPr>
          <p:spPr>
            <a:xfrm>
              <a:off x="721360" y="4947920"/>
              <a:ext cx="660400" cy="660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05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67583" y="509345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Property Schema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91806" y="1579880"/>
            <a:ext cx="3184623" cy="660400"/>
            <a:chOff x="3991806" y="1579880"/>
            <a:chExt cx="3184623" cy="660400"/>
          </a:xfrm>
        </p:grpSpPr>
        <p:sp>
          <p:nvSpPr>
            <p:cNvPr id="8" name="Rounded Rectangle 7"/>
            <p:cNvSpPr/>
            <p:nvPr/>
          </p:nvSpPr>
          <p:spPr>
            <a:xfrm>
              <a:off x="3991806" y="1579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latin typeface="Big Shoulders Text" pitchFamily="2" charset="0"/>
                </a:rPr>
                <a:t>02</a:t>
              </a:r>
              <a:endParaRPr lang="en-IN" sz="2800" dirty="0">
                <a:latin typeface="Big Shoulders Text" pitchFamily="2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38030" y="172541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  <a:ea typeface="Jost Medium" pitchFamily="2" charset="0"/>
                </a:rPr>
                <a:t>SYSTEM OVERVIEW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  <a:ea typeface="Jost Medium" pitchFamily="2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91806" y="3228340"/>
            <a:ext cx="3190238" cy="660400"/>
            <a:chOff x="3991806" y="3228340"/>
            <a:chExt cx="3190238" cy="660400"/>
          </a:xfrm>
        </p:grpSpPr>
        <p:sp>
          <p:nvSpPr>
            <p:cNvPr id="7" name="Rounded Rectangle 6"/>
            <p:cNvSpPr/>
            <p:nvPr/>
          </p:nvSpPr>
          <p:spPr>
            <a:xfrm>
              <a:off x="3991806" y="322834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04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43645" y="337387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Agent Profile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91806" y="4947920"/>
            <a:ext cx="3270446" cy="660400"/>
            <a:chOff x="3991806" y="4947920"/>
            <a:chExt cx="3270446" cy="660400"/>
          </a:xfrm>
        </p:grpSpPr>
        <p:sp>
          <p:nvSpPr>
            <p:cNvPr id="6" name="Rounded Rectangle 5"/>
            <p:cNvSpPr/>
            <p:nvPr/>
          </p:nvSpPr>
          <p:spPr>
            <a:xfrm>
              <a:off x="3991806" y="494792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06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23853" y="509345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Database Structure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sp>
        <p:nvSpPr>
          <p:cNvPr id="19" name="Parallelogram 18"/>
          <p:cNvSpPr/>
          <p:nvPr/>
        </p:nvSpPr>
        <p:spPr>
          <a:xfrm>
            <a:off x="1557407" y="399309"/>
            <a:ext cx="3783657" cy="686541"/>
          </a:xfrm>
          <a:prstGeom prst="parallelogram">
            <a:avLst/>
          </a:prstGeom>
          <a:solidFill>
            <a:srgbClr val="EB2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Parallelogram 19"/>
          <p:cNvSpPr/>
          <p:nvPr/>
        </p:nvSpPr>
        <p:spPr>
          <a:xfrm>
            <a:off x="1727392" y="399310"/>
            <a:ext cx="3676458" cy="686540"/>
          </a:xfrm>
          <a:prstGeom prst="parallelogram">
            <a:avLst/>
          </a:prstGeom>
          <a:solidFill>
            <a:srgbClr val="9DB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1924246" y="458501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EB2F02"/>
                </a:solidFill>
                <a:latin typeface="Big Shoulders Text" pitchFamily="2" charset="0"/>
              </a:rPr>
              <a:t>TABLE OF CONTENTS</a:t>
            </a:r>
            <a:endParaRPr lang="en-IN" sz="3200" dirty="0">
              <a:solidFill>
                <a:srgbClr val="EB2F02"/>
              </a:solidFill>
              <a:latin typeface="Big Shoulders Text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46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21360" y="1579880"/>
            <a:ext cx="3184622" cy="660400"/>
            <a:chOff x="721360" y="1579880"/>
            <a:chExt cx="3184622" cy="660400"/>
          </a:xfrm>
        </p:grpSpPr>
        <p:sp>
          <p:nvSpPr>
            <p:cNvPr id="4" name="Rounded Rectangle 3"/>
            <p:cNvSpPr/>
            <p:nvPr/>
          </p:nvSpPr>
          <p:spPr>
            <a:xfrm>
              <a:off x="721360" y="1579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07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67583" y="172541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property </a:t>
              </a:r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Uploads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1040" y="3230880"/>
            <a:ext cx="3163227" cy="660400"/>
            <a:chOff x="701040" y="3230880"/>
            <a:chExt cx="3163227" cy="660400"/>
          </a:xfrm>
        </p:grpSpPr>
        <p:sp>
          <p:nvSpPr>
            <p:cNvPr id="5" name="Rounded Rectangle 4"/>
            <p:cNvSpPr/>
            <p:nvPr/>
          </p:nvSpPr>
          <p:spPr>
            <a:xfrm>
              <a:off x="701040" y="3230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09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25868" y="337387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Technical Architecture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91806" y="1579880"/>
            <a:ext cx="3184623" cy="660400"/>
            <a:chOff x="3991806" y="1579880"/>
            <a:chExt cx="3184623" cy="660400"/>
          </a:xfrm>
        </p:grpSpPr>
        <p:sp>
          <p:nvSpPr>
            <p:cNvPr id="8" name="Rounded Rectangle 7"/>
            <p:cNvSpPr/>
            <p:nvPr/>
          </p:nvSpPr>
          <p:spPr>
            <a:xfrm>
              <a:off x="3991806" y="1579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latin typeface="Big Shoulders Text" pitchFamily="2" charset="0"/>
                </a:rPr>
                <a:t>08</a:t>
              </a:r>
              <a:endParaRPr lang="en-IN" sz="2800" dirty="0">
                <a:latin typeface="Big Shoulders Text" pitchFamily="2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38030" y="172541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Property Management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sp>
        <p:nvSpPr>
          <p:cNvPr id="19" name="Parallelogram 18"/>
          <p:cNvSpPr/>
          <p:nvPr/>
        </p:nvSpPr>
        <p:spPr>
          <a:xfrm>
            <a:off x="1557407" y="399309"/>
            <a:ext cx="3783657" cy="686541"/>
          </a:xfrm>
          <a:prstGeom prst="parallelogram">
            <a:avLst/>
          </a:prstGeom>
          <a:solidFill>
            <a:srgbClr val="EB2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Parallelogram 19"/>
          <p:cNvSpPr/>
          <p:nvPr/>
        </p:nvSpPr>
        <p:spPr>
          <a:xfrm>
            <a:off x="1727392" y="399310"/>
            <a:ext cx="3676458" cy="686540"/>
          </a:xfrm>
          <a:prstGeom prst="parallelogram">
            <a:avLst/>
          </a:prstGeom>
          <a:solidFill>
            <a:srgbClr val="9DB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1924246" y="458501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EB2F02"/>
                </a:solidFill>
                <a:latin typeface="Big Shoulders Text" pitchFamily="2" charset="0"/>
              </a:rPr>
              <a:t>TABLE OF CONTENTS</a:t>
            </a:r>
            <a:endParaRPr lang="en-IN" sz="3200" dirty="0">
              <a:solidFill>
                <a:srgbClr val="EB2F02"/>
              </a:solidFill>
              <a:latin typeface="Big Shoulders Text" pitchFamily="2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992882" y="3230880"/>
            <a:ext cx="3163227" cy="660400"/>
            <a:chOff x="701040" y="3230880"/>
            <a:chExt cx="3163227" cy="660400"/>
          </a:xfrm>
        </p:grpSpPr>
        <p:sp>
          <p:nvSpPr>
            <p:cNvPr id="18" name="Rounded Rectangle 17"/>
            <p:cNvSpPr/>
            <p:nvPr/>
          </p:nvSpPr>
          <p:spPr>
            <a:xfrm>
              <a:off x="701040" y="3230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09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25868" y="3373874"/>
              <a:ext cx="2438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Technical Stacks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21360" y="4692134"/>
            <a:ext cx="3163227" cy="850880"/>
            <a:chOff x="701040" y="3230880"/>
            <a:chExt cx="3163227" cy="850880"/>
          </a:xfrm>
        </p:grpSpPr>
        <p:sp>
          <p:nvSpPr>
            <p:cNvPr id="25" name="Rounded Rectangle 24"/>
            <p:cNvSpPr/>
            <p:nvPr/>
          </p:nvSpPr>
          <p:spPr>
            <a:xfrm>
              <a:off x="701040" y="3230880"/>
              <a:ext cx="660400" cy="660400"/>
            </a:xfrm>
            <a:prstGeom prst="roundRect">
              <a:avLst/>
            </a:prstGeom>
            <a:solidFill>
              <a:srgbClr val="4579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latin typeface="Big Shoulders Text" pitchFamily="2" charset="0"/>
                </a:rPr>
                <a:t>09</a:t>
              </a:r>
              <a:endParaRPr lang="en-IN" sz="3200" dirty="0">
                <a:latin typeface="Big Shoulders Text" pitchFamily="2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25868" y="3373874"/>
              <a:ext cx="24383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Scalibility</a:t>
              </a:r>
              <a:r>
                <a:rPr lang="en-US" sz="2000" dirty="0" smtClean="0">
                  <a:solidFill>
                    <a:schemeClr val="accent5">
                      <a:lumMod val="75000"/>
                    </a:schemeClr>
                  </a:solidFill>
                  <a:latin typeface="Big Shoulders Text" pitchFamily="2" charset="0"/>
                </a:rPr>
                <a:t> &amp; Future Enhancement</a:t>
              </a:r>
              <a:endParaRPr lang="en-IN" sz="2000" dirty="0">
                <a:solidFill>
                  <a:schemeClr val="accent5">
                    <a:lumMod val="75000"/>
                  </a:schemeClr>
                </a:solidFill>
                <a:latin typeface="Big Shoulders Text" pitchFamily="2" charset="0"/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48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2856" y="820420"/>
            <a:ext cx="5081954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Big Shoulders Text" pitchFamily="2" charset="0"/>
              </a:rPr>
              <a:t>The Problem</a:t>
            </a:r>
            <a:r>
              <a:rPr lang="en-US" sz="2800" b="1" dirty="0" smtClean="0">
                <a:solidFill>
                  <a:srgbClr val="0070C0"/>
                </a:solidFill>
                <a:latin typeface="Big Shoulders Text" pitchFamily="2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1600" b="1" dirty="0">
                <a:latin typeface="Jost Medium" pitchFamily="2" charset="0"/>
                <a:ea typeface="Jost Medium" pitchFamily="2" charset="0"/>
              </a:rPr>
              <a:t>Challenges in Traditional Tourism </a:t>
            </a:r>
            <a:r>
              <a:rPr lang="en-US" sz="1600" b="1" dirty="0" smtClean="0">
                <a:latin typeface="Jost Medium" pitchFamily="2" charset="0"/>
                <a:ea typeface="Jost Medium" pitchFamily="2" charset="0"/>
              </a:rPr>
              <a:t>Systems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Manual booking processes requiring phone calls or physical visits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Fragmented tour information across multiple platforms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Lack of real-time inventory updates for tour operators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No centralized dashboard for business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Poor mobile experience for travelers on-the-go</a:t>
            </a:r>
          </a:p>
          <a:p>
            <a:endParaRPr lang="en-US" sz="1600" dirty="0">
              <a:latin typeface="Agency FB" panose="020B0503020202020204" pitchFamily="34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Big Shoulders Text" pitchFamily="2" charset="0"/>
              </a:rPr>
              <a:t>Our Solution: </a:t>
            </a:r>
            <a:r>
              <a:rPr lang="en-US" sz="2800" b="1" dirty="0" err="1" smtClean="0">
                <a:solidFill>
                  <a:srgbClr val="0070C0"/>
                </a:solidFill>
                <a:latin typeface="Big Shoulders Text" pitchFamily="2" charset="0"/>
              </a:rPr>
              <a:t>GlobeTrails</a:t>
            </a:r>
            <a:r>
              <a:rPr lang="en-US" sz="2800" b="1" dirty="0" smtClean="0">
                <a:solidFill>
                  <a:srgbClr val="0070C0"/>
                </a:solidFill>
                <a:latin typeface="Big Shoulders Text" pitchFamily="2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>
                <a:latin typeface="Jost Medium" pitchFamily="2" charset="0"/>
                <a:ea typeface="Jost Medium" pitchFamily="2" charset="0"/>
              </a:rPr>
              <a:t>A unified digital platform connecting travelers with curated tour experiences through a modern web application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.</a:t>
            </a:r>
          </a:p>
          <a:p>
            <a:endParaRPr lang="en-US" dirty="0"/>
          </a:p>
          <a:p>
            <a:r>
              <a:rPr lang="en-US" sz="2800" b="1" dirty="0">
                <a:solidFill>
                  <a:srgbClr val="0070C0"/>
                </a:solidFill>
                <a:latin typeface="Big Shoulders Text" pitchFamily="2" charset="0"/>
              </a:rPr>
              <a:t>What We </a:t>
            </a:r>
            <a:r>
              <a:rPr lang="en-US" sz="2800" b="1" dirty="0" smtClean="0">
                <a:solidFill>
                  <a:srgbClr val="0070C0"/>
                </a:solidFill>
                <a:latin typeface="Big Shoulders Text" pitchFamily="2" charset="0"/>
              </a:rPr>
              <a:t>Built 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>
                <a:latin typeface="Jost Medium" pitchFamily="2" charset="0"/>
                <a:ea typeface="Jost Medium" pitchFamily="2" charset="0"/>
              </a:rPr>
              <a:t>A full-stack web application featuring secure user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Authentication system, </a:t>
            </a:r>
            <a:r>
              <a:rPr lang="en-US" sz="1600" dirty="0">
                <a:latin typeface="Jost Medium" pitchFamily="2" charset="0"/>
                <a:ea typeface="Jost Medium" pitchFamily="2" charset="0"/>
              </a:rPr>
              <a:t>detailed </a:t>
            </a:r>
            <a:r>
              <a:rPr lang="en-US" sz="1600" dirty="0" err="1" smtClean="0">
                <a:latin typeface="Jost Medium" pitchFamily="2" charset="0"/>
                <a:ea typeface="Jost Medium" pitchFamily="2" charset="0"/>
              </a:rPr>
              <a:t>tous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 </a:t>
            </a:r>
            <a:r>
              <a:rPr lang="en-US" sz="1600" dirty="0">
                <a:latin typeface="Jost Medium" pitchFamily="2" charset="0"/>
                <a:ea typeface="Jost Medium" pitchFamily="2" charset="0"/>
              </a:rPr>
              <a:t>listings, advanced search, and a scalable database—all designed to make finding and managing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tours easier </a:t>
            </a:r>
            <a:r>
              <a:rPr lang="en-US" sz="1600" dirty="0">
                <a:latin typeface="Jost Medium" pitchFamily="2" charset="0"/>
                <a:ea typeface="Jost Medium" pitchFamily="2" charset="0"/>
              </a:rPr>
              <a:t>than ever before.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6" name="Parallelogram 5"/>
          <p:cNvSpPr/>
          <p:nvPr/>
        </p:nvSpPr>
        <p:spPr>
          <a:xfrm>
            <a:off x="1644744" y="133879"/>
            <a:ext cx="3783657" cy="686541"/>
          </a:xfrm>
          <a:prstGeom prst="parallelogram">
            <a:avLst/>
          </a:prstGeom>
          <a:solidFill>
            <a:srgbClr val="EB2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/>
          <p:cNvSpPr/>
          <p:nvPr/>
        </p:nvSpPr>
        <p:spPr>
          <a:xfrm>
            <a:off x="1814729" y="133880"/>
            <a:ext cx="3676458" cy="686540"/>
          </a:xfrm>
          <a:prstGeom prst="parallelogram">
            <a:avLst/>
          </a:prstGeom>
          <a:solidFill>
            <a:srgbClr val="9DB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2057986" y="174089"/>
            <a:ext cx="3985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EB2F02"/>
                </a:solidFill>
                <a:latin typeface="Big Shoulders Text" pitchFamily="2" charset="0"/>
              </a:rPr>
              <a:t>introduction</a:t>
            </a:r>
            <a:endParaRPr lang="en-IN" sz="3600" dirty="0">
              <a:solidFill>
                <a:srgbClr val="EB2F02"/>
              </a:solidFill>
              <a:latin typeface="Big Shoulders Text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0" b="8596"/>
          <a:stretch/>
        </p:blipFill>
        <p:spPr>
          <a:xfrm>
            <a:off x="6532685" y="8792"/>
            <a:ext cx="5659316" cy="684920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191378" y="2106158"/>
            <a:ext cx="2682613" cy="2654475"/>
          </a:xfrm>
          <a:prstGeom prst="ellipse">
            <a:avLst/>
          </a:prstGeom>
          <a:solidFill>
            <a:srgbClr val="EB2F0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079" y="2229166"/>
            <a:ext cx="2452736" cy="24084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4914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254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5151063" y="-20320"/>
            <a:ext cx="6580689" cy="6878320"/>
            <a:chOff x="5151063" y="-20320"/>
            <a:chExt cx="6580689" cy="6878320"/>
          </a:xfr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grpSpPr>
        <p:sp>
          <p:nvSpPr>
            <p:cNvPr id="4" name="Rectangle 3"/>
            <p:cNvSpPr/>
            <p:nvPr/>
          </p:nvSpPr>
          <p:spPr>
            <a:xfrm>
              <a:off x="5425440" y="314952"/>
              <a:ext cx="6306312" cy="62077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51063" y="-20320"/>
              <a:ext cx="274378" cy="6082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7696" y="6249739"/>
              <a:ext cx="274378" cy="6082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Rectangle 4"/>
          <p:cNvSpPr/>
          <p:nvPr/>
        </p:nvSpPr>
        <p:spPr>
          <a:xfrm>
            <a:off x="5425439" y="587941"/>
            <a:ext cx="6068568" cy="56617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885432" y="623564"/>
            <a:ext cx="4175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smtClean="0">
                <a:solidFill>
                  <a:srgbClr val="002060"/>
                </a:solidFill>
                <a:latin typeface="Big Shoulders Text" pitchFamily="2" charset="0"/>
              </a:rPr>
              <a:t>System Overview</a:t>
            </a:r>
            <a:endParaRPr lang="en-IN" sz="3200" u="sng" dirty="0">
              <a:solidFill>
                <a:srgbClr val="002060"/>
              </a:solidFill>
              <a:latin typeface="Big Shoulders Tex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25440" y="1207049"/>
            <a:ext cx="573938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What is </a:t>
            </a:r>
            <a:r>
              <a:rPr lang="en-IN" sz="16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GlobeTrails</a:t>
            </a:r>
            <a:r>
              <a:rPr lang="en-IN" sz="16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?</a:t>
            </a:r>
          </a:p>
          <a:p>
            <a:endParaRPr lang="en-IN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Web-based tour booking and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Serves as intermediary between </a:t>
            </a:r>
            <a:r>
              <a:rPr lang="en-IN" sz="1600" dirty="0" err="1">
                <a:latin typeface="Jost Medium" pitchFamily="2" charset="0"/>
                <a:ea typeface="Jost Medium" pitchFamily="2" charset="0"/>
              </a:rPr>
              <a:t>travelers</a:t>
            </a:r>
            <a:r>
              <a:rPr lang="en-IN" sz="1600" dirty="0">
                <a:latin typeface="Jost Medium" pitchFamily="2" charset="0"/>
                <a:ea typeface="Jost Medium" pitchFamily="2" charset="0"/>
              </a:rPr>
              <a:t> and tour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Single Page Application (SPA) for seamless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Complete digital workflow: discovery → booking → </a:t>
            </a:r>
            <a:r>
              <a:rPr lang="en-IN" sz="1600" dirty="0" smtClean="0">
                <a:latin typeface="Jost Medium" pitchFamily="2" charset="0"/>
                <a:ea typeface="Jost Medium" pitchFamily="2" charset="0"/>
              </a:rPr>
              <a:t>management</a:t>
            </a:r>
            <a:endParaRPr lang="en-IN" sz="1600" dirty="0">
              <a:latin typeface="Jost Medium" pitchFamily="2" charset="0"/>
              <a:ea typeface="Jost Medium" pitchFamily="2" charset="0"/>
            </a:endParaRPr>
          </a:p>
          <a:p>
            <a:endParaRPr lang="en-IN" sz="1600" b="1" dirty="0" smtClean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n-IN" sz="16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Key </a:t>
            </a:r>
            <a:r>
              <a:rPr lang="en-IN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Features:</a:t>
            </a:r>
            <a:endParaRPr lang="en-IN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User authentication (Email + Google OAuth)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Advanced tour </a:t>
            </a:r>
            <a:r>
              <a:rPr lang="en-IN" sz="1600" dirty="0" err="1">
                <a:latin typeface="Jost Medium" pitchFamily="2" charset="0"/>
                <a:ea typeface="Jost Medium" pitchFamily="2" charset="0"/>
              </a:rPr>
              <a:t>catalog</a:t>
            </a:r>
            <a:r>
              <a:rPr lang="en-IN" sz="1600" dirty="0">
                <a:latin typeface="Jost Medium" pitchFamily="2" charset="0"/>
                <a:ea typeface="Jost Medium" pitchFamily="2" charset="0"/>
              </a:rPr>
              <a:t> with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Booking inquiry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Comprehensive admin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Jost Medium" pitchFamily="2" charset="0"/>
                <a:ea typeface="Jost Medium" pitchFamily="2" charset="0"/>
              </a:rPr>
              <a:t>Mobile-responsive design</a:t>
            </a: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US" b="1" dirty="0" smtClean="0">
                <a:solidFill>
                  <a:srgbClr val="EB2F02"/>
                </a:solidFill>
                <a:latin typeface="Arial Narrow" panose="020B0606020202030204" pitchFamily="34" charset="0"/>
              </a:rPr>
              <a:t>Tour Management Admin Dashboard</a:t>
            </a:r>
            <a:endParaRPr lang="en-US" dirty="0">
              <a:solidFill>
                <a:srgbClr val="EB2F02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Admin can easily manages tour packages , </a:t>
            </a:r>
            <a:r>
              <a:rPr lang="en-US" sz="1600" dirty="0" err="1" smtClean="0">
                <a:latin typeface="Jost Medium" pitchFamily="2" charset="0"/>
                <a:ea typeface="Jost Medium" pitchFamily="2" charset="0"/>
              </a:rPr>
              <a:t>inserting,updating,deleting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 and approving booked tours etc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  <a:endParaRPr lang="en-US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6" y="-20320"/>
            <a:ext cx="5145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9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" b="16391"/>
          <a:stretch/>
        </p:blipFill>
        <p:spPr>
          <a:xfrm>
            <a:off x="9498" y="0"/>
            <a:ext cx="12385022" cy="69275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6959" y="508000"/>
            <a:ext cx="10795981" cy="58826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884680" y="1229361"/>
            <a:ext cx="9250680" cy="5161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79320" y="3379034"/>
            <a:ext cx="7640320" cy="4821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328987" y="679253"/>
            <a:ext cx="294371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 System Architecture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n w="0"/>
              <a:solidFill>
                <a:schemeClr val="accent5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ig Shoulders Text" pitchFamily="2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154595" y="375952"/>
            <a:ext cx="467360" cy="1135096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989547" y="388903"/>
            <a:ext cx="451408" cy="1131205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5025248" y="314961"/>
            <a:ext cx="426720" cy="1107440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811888" y="314961"/>
            <a:ext cx="426720" cy="1107440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354898" y="1203649"/>
            <a:ext cx="4432105" cy="1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4672472" y="553285"/>
            <a:ext cx="4114531" cy="1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507298" y="1356049"/>
            <a:ext cx="4114657" cy="1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288607" y="1632327"/>
            <a:ext cx="50465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Jost Medium" pitchFamily="2" charset="0"/>
                <a:ea typeface="Jost Medium" pitchFamily="2" charset="0"/>
              </a:rPr>
              <a:t>Client–Server architecture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Jost Medium" pitchFamily="2" charset="0"/>
                <a:ea typeface="Jost Medium" pitchFamily="2" charset="0"/>
              </a:rPr>
              <a:t>React frontend communicates via REST APIs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Jost Medium" pitchFamily="2" charset="0"/>
                <a:ea typeface="Jost Medium" pitchFamily="2" charset="0"/>
              </a:rPr>
              <a:t>Express server handles business logic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Jost Medium" pitchFamily="2" charset="0"/>
                <a:ea typeface="Jost Medium" pitchFamily="2" charset="0"/>
              </a:rPr>
              <a:t>MongoDB stores application data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Jost Medium" pitchFamily="2" charset="0"/>
                <a:ea typeface="Jost Medium" pitchFamily="2" charset="0"/>
              </a:rPr>
              <a:t>Supabase</a:t>
            </a:r>
            <a:r>
              <a:rPr lang="en-US" altLang="en-US" dirty="0">
                <a:latin typeface="Jost Medium" pitchFamily="2" charset="0"/>
                <a:ea typeface="Jost Medium" pitchFamily="2" charset="0"/>
              </a:rPr>
              <a:t> used for image storage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74" y="4054192"/>
            <a:ext cx="9328681" cy="136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69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38" y="0"/>
            <a:ext cx="8798109" cy="68629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6646" y="408536"/>
            <a:ext cx="2284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 System </a:t>
            </a:r>
            <a:r>
              <a:rPr lang="en-IN" b="1" dirty="0" smtClean="0">
                <a:solidFill>
                  <a:schemeClr val="accent6">
                    <a:lumMod val="75000"/>
                  </a:schemeClr>
                </a:solidFill>
              </a:rPr>
              <a:t>Flow Diagram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32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" b="16391"/>
          <a:stretch/>
        </p:blipFill>
        <p:spPr>
          <a:xfrm>
            <a:off x="9498" y="0"/>
            <a:ext cx="12385022" cy="69275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6959" y="507999"/>
            <a:ext cx="10795981" cy="63737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858303" y="1237141"/>
            <a:ext cx="9250680" cy="5678806"/>
          </a:xfrm>
          <a:prstGeom prst="rect">
            <a:avLst/>
          </a:prstGeom>
          <a:solidFill>
            <a:srgbClr val="F0E7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275840" y="1493100"/>
            <a:ext cx="7640320" cy="26519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>
                <a:latin typeface="Jost Medium" pitchFamily="2" charset="0"/>
                <a:ea typeface="Jost Medium" pitchFamily="2" charset="0"/>
              </a:rPr>
              <a:t>User </a:t>
            </a:r>
            <a:r>
              <a:rPr lang="en-IN" dirty="0">
                <a:latin typeface="Jost Medium" pitchFamily="2" charset="0"/>
                <a:ea typeface="Jost Medium" pitchFamily="2" charset="0"/>
              </a:rPr>
              <a:t>registration using email and password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Jost Medium" pitchFamily="2" charset="0"/>
                <a:ea typeface="Jost Medium" pitchFamily="2" charset="0"/>
              </a:rPr>
              <a:t>Google OAuth integration for social login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Jost Medium" pitchFamily="2" charset="0"/>
                <a:ea typeface="Jost Medium" pitchFamily="2" charset="0"/>
              </a:rPr>
              <a:t>Passwords encrypted using </a:t>
            </a:r>
            <a:r>
              <a:rPr lang="en-IN" dirty="0" err="1">
                <a:latin typeface="Jost Medium" pitchFamily="2" charset="0"/>
                <a:ea typeface="Jost Medium" pitchFamily="2" charset="0"/>
              </a:rPr>
              <a:t>BCrypt</a:t>
            </a:r>
            <a:r>
              <a:rPr lang="en-IN" dirty="0">
                <a:latin typeface="Jost Medium" pitchFamily="2" charset="0"/>
                <a:ea typeface="Jost Medium" pitchFamily="2" charset="0"/>
              </a:rPr>
              <a:t> hashing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Jost Medium" pitchFamily="2" charset="0"/>
                <a:ea typeface="Jost Medium" pitchFamily="2" charset="0"/>
              </a:rPr>
              <a:t>JWT tokens used for secure session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Jost Medium" pitchFamily="2" charset="0"/>
                <a:ea typeface="Jost Medium" pitchFamily="2" charset="0"/>
              </a:rPr>
              <a:t>Role-based access for admin and users</a:t>
            </a:r>
          </a:p>
          <a:p>
            <a:endParaRPr lang="en-IN" sz="2400" b="1" dirty="0" smtClean="0">
              <a:solidFill>
                <a:srgbClr val="EB2F02"/>
              </a:solidFill>
              <a:latin typeface="Big Shoulders Tex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00220" y="590810"/>
            <a:ext cx="4419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 smtClean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g Shoulders Text" pitchFamily="2" charset="0"/>
              </a:rPr>
              <a:t>Athentication</a:t>
            </a:r>
            <a:r>
              <a:rPr lang="en-US" altLang="en-US" sz="3600" dirty="0" smtClean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g Shoulders Text" pitchFamily="2" charset="0"/>
              </a:rPr>
              <a:t> &amp; Security</a:t>
            </a:r>
            <a:endParaRPr lang="en-US" altLang="en-US" sz="3600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ig Shoulders Text" pitchFamily="2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450516" y="368344"/>
            <a:ext cx="467360" cy="1135096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8306938" y="312130"/>
            <a:ext cx="451408" cy="1131205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274948" y="303078"/>
            <a:ext cx="473526" cy="1228912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168266" y="326843"/>
            <a:ext cx="418128" cy="1205147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008229" y="1181695"/>
            <a:ext cx="4869553" cy="0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3978754" y="519121"/>
            <a:ext cx="4992389" cy="45286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054398" y="1294607"/>
            <a:ext cx="4911244" cy="31706"/>
          </a:xfrm>
          <a:prstGeom prst="line">
            <a:avLst/>
          </a:prstGeom>
          <a:ln w="76200">
            <a:solidFill>
              <a:srgbClr val="EB2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8" t="12019" r="15660" b="6072"/>
          <a:stretch/>
        </p:blipFill>
        <p:spPr>
          <a:xfrm>
            <a:off x="3042710" y="3823231"/>
            <a:ext cx="3087367" cy="288282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707" y="3113190"/>
            <a:ext cx="3133174" cy="371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431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bg2">
                <a:tint val="90000"/>
                <a:satMod val="92000"/>
                <a:lumMod val="120000"/>
              </a:schemeClr>
            </a:gs>
            <a:gs pos="94000">
              <a:schemeClr val="bg2">
                <a:shade val="98000"/>
                <a:satMod val="120000"/>
                <a:lumMod val="98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06330" y="-1"/>
            <a:ext cx="175436" cy="6883398"/>
          </a:xfrm>
          <a:prstGeom prst="rect">
            <a:avLst/>
          </a:prstGeom>
          <a:solidFill>
            <a:srgbClr val="9DBDB8"/>
          </a:solidFill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60525" y="1089587"/>
            <a:ext cx="5511800" cy="50526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rgbClr val="EB2F02"/>
                </a:solidFill>
              </a:rPr>
              <a:t>Core Tour </a:t>
            </a:r>
            <a:r>
              <a:rPr lang="en-US" sz="1400" b="1" dirty="0" smtClean="0">
                <a:solidFill>
                  <a:srgbClr val="EB2F02"/>
                </a:solidFill>
              </a:rPr>
              <a:t>Details: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Basic </a:t>
            </a:r>
            <a:r>
              <a:rPr lang="en-US" sz="1200" dirty="0">
                <a:latin typeface="Jost Medium" pitchFamily="2" charset="0"/>
                <a:ea typeface="Jost Medium" pitchFamily="2" charset="0"/>
              </a:rPr>
              <a:t>Info: Tour Title, Tour Description, Tour Category (Adventure, Wildlife, Heritage, etc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.)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Tour </a:t>
            </a:r>
            <a:r>
              <a:rPr lang="en-US" sz="1200" dirty="0">
                <a:latin typeface="Jost Medium" pitchFamily="2" charset="0"/>
                <a:ea typeface="Jost Medium" pitchFamily="2" charset="0"/>
              </a:rPr>
              <a:t>Specs: Duration (Days/Nights), Price per Person, Maximum Group 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Itinerary </a:t>
            </a: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Details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Day-wise Plan: Day Number, Activities Description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Inclusions: Meals, Transport, Accommodation (if applicable)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Media Management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Images: Tour Images uploaded and stored via </a:t>
            </a:r>
            <a:r>
              <a:rPr lang="en-US" sz="1200" dirty="0" err="1">
                <a:latin typeface="Jost Medium" pitchFamily="2" charset="0"/>
                <a:ea typeface="Jost Medium" pitchFamily="2" charset="0"/>
              </a:rPr>
              <a:t>Supabase</a:t>
            </a: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Image URLs: Stored in MongoDB and displayed in tour catalog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Listing Control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Tour Status: Active / Inactive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Visibility: Show or hide tour from public users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Admin Link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Created &amp; managed by: Connected to Admin Profile who created the tour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29746" y="972323"/>
            <a:ext cx="5201920" cy="56527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400" dirty="0" smtClean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Booking </a:t>
            </a:r>
            <a:r>
              <a:rPr lang="en-US" alt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Information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Basic Info: Selected Tour, Preferred Start Date, Number of Guests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Price Calculation: Total Price = Price per Person × Guests</a:t>
            </a:r>
          </a:p>
          <a:p>
            <a:pPr lvl="0">
              <a:lnSpc>
                <a:spcPct val="150000"/>
              </a:lnSpc>
            </a:pPr>
            <a:endParaRPr lang="en-US" altLang="en-US" sz="1200" dirty="0">
              <a:latin typeface="Jost Medium" pitchFamily="2" charset="0"/>
              <a:ea typeface="Jost Medium" pitchFamily="2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User Link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Booked By: Connected to registered User Profile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Authentication: Booking allowed only for logged-in users</a:t>
            </a:r>
          </a:p>
          <a:p>
            <a:pPr lvl="0">
              <a:lnSpc>
                <a:spcPct val="150000"/>
              </a:lnSpc>
            </a:pPr>
            <a:endParaRPr lang="en-US" altLang="en-US" sz="1200" dirty="0">
              <a:latin typeface="Jost Medium" pitchFamily="2" charset="0"/>
              <a:ea typeface="Jost Medium" pitchFamily="2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Booking Status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Inquiry Status: Pending / Confirmed / Rejected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Status Update: Managed by Admin through dashboard</a:t>
            </a:r>
          </a:p>
          <a:p>
            <a:pPr lvl="0">
              <a:lnSpc>
                <a:spcPct val="150000"/>
              </a:lnSpc>
            </a:pPr>
            <a:endParaRPr lang="en-US" altLang="en-US" sz="1200" dirty="0">
              <a:latin typeface="Jost Medium" pitchFamily="2" charset="0"/>
              <a:ea typeface="Jost Medium" pitchFamily="2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Transaction Control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Booking ID: Auto-generated unique identifier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Booking Date: Timestamp of booking request</a:t>
            </a:r>
          </a:p>
          <a:p>
            <a:pPr lvl="0">
              <a:lnSpc>
                <a:spcPct val="150000"/>
              </a:lnSpc>
            </a:pPr>
            <a:endParaRPr lang="en-US" altLang="en-US" sz="1200" dirty="0">
              <a:latin typeface="Jost Medium" pitchFamily="2" charset="0"/>
              <a:ea typeface="Jost Medium" pitchFamily="2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User Access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Booking History: Users can view all their past and current bookings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latin typeface="Jost Medium" pitchFamily="2" charset="0"/>
                <a:ea typeface="Jost Medium" pitchFamily="2" charset="0"/>
              </a:rPr>
              <a:t>Status Tracking: Real-time booking status visibility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effectLst/>
              <a:latin typeface="Jost Medium" pitchFamily="2" charset="0"/>
              <a:ea typeface="Jost Medium" pitchFamily="2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71780" y="351099"/>
            <a:ext cx="5648960" cy="896160"/>
            <a:chOff x="271780" y="351099"/>
            <a:chExt cx="5648960" cy="896160"/>
          </a:xfrm>
        </p:grpSpPr>
        <p:grpSp>
          <p:nvGrpSpPr>
            <p:cNvPr id="14" name="Group 13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10" name="Parallelogram 9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Parallelogram 10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Tour Package Module</a:t>
              </a:r>
              <a:endParaRPr lang="en-US" altLang="en-US" sz="2800" b="1" dirty="0">
                <a:solidFill>
                  <a:srgbClr val="EB2F02"/>
                </a:solidFill>
                <a:latin typeface="Big Shoulders Text" pitchFamily="2" charset="0"/>
              </a:endParaRPr>
            </a:p>
            <a:p>
              <a:endParaRPr lang="en-IN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228431" y="342259"/>
            <a:ext cx="5956300" cy="876998"/>
            <a:chOff x="6228431" y="342259"/>
            <a:chExt cx="5956300" cy="876998"/>
          </a:xfrm>
        </p:grpSpPr>
        <p:grpSp>
          <p:nvGrpSpPr>
            <p:cNvPr id="17" name="Group 16"/>
            <p:cNvGrpSpPr/>
            <p:nvPr/>
          </p:nvGrpSpPr>
          <p:grpSpPr>
            <a:xfrm>
              <a:off x="6228431" y="342259"/>
              <a:ext cx="5956300" cy="686541"/>
              <a:chOff x="1333887" y="5682509"/>
              <a:chExt cx="3846443" cy="686541"/>
            </a:xfrm>
          </p:grpSpPr>
          <p:sp>
            <p:nvSpPr>
              <p:cNvPr id="19" name="Parallelogram 18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Parallelogram 19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6576411" y="419038"/>
              <a:ext cx="536448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  Tour booking Module</a:t>
              </a:r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71077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000">
              <a:schemeClr val="bg2">
                <a:tint val="90000"/>
                <a:satMod val="92000"/>
                <a:lumMod val="120000"/>
              </a:schemeClr>
            </a:gs>
            <a:gs pos="94000">
              <a:schemeClr val="bg2">
                <a:shade val="98000"/>
                <a:satMod val="120000"/>
                <a:lumMod val="98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603819" y="210727"/>
            <a:ext cx="5648960" cy="896160"/>
            <a:chOff x="271780" y="351099"/>
            <a:chExt cx="5648960" cy="896160"/>
          </a:xfrm>
        </p:grpSpPr>
        <p:grpSp>
          <p:nvGrpSpPr>
            <p:cNvPr id="3" name="Group 2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5" name="Parallelogram 4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Parallelogram 5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err="1">
                  <a:solidFill>
                    <a:srgbClr val="EB2F02"/>
                  </a:solidFill>
                  <a:latin typeface="Big Shoulders Text" pitchFamily="2" charset="0"/>
                </a:rPr>
                <a:t>A</a:t>
              </a:r>
              <a:r>
                <a:rPr lang="en-US" altLang="en-US" sz="2800" b="1" dirty="0" err="1" smtClean="0">
                  <a:solidFill>
                    <a:srgbClr val="EB2F02"/>
                  </a:solidFill>
                  <a:latin typeface="Big Shoulders Text" pitchFamily="2" charset="0"/>
                </a:rPr>
                <a:t>dmim</a:t>
              </a:r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 Dashboard Module</a:t>
              </a:r>
              <a:endParaRPr lang="en-US" altLang="en-US" sz="2800" b="1" dirty="0">
                <a:solidFill>
                  <a:srgbClr val="EB2F02"/>
                </a:solidFill>
                <a:latin typeface="Big Shoulders Text" pitchFamily="2" charset="0"/>
              </a:endParaRPr>
            </a:p>
            <a:p>
              <a:endParaRPr lang="en-IN" dirty="0"/>
            </a:p>
          </p:txBody>
        </p:sp>
      </p:grpSp>
      <p:sp>
        <p:nvSpPr>
          <p:cNvPr id="8" name="Rectangle 7"/>
          <p:cNvSpPr/>
          <p:nvPr/>
        </p:nvSpPr>
        <p:spPr>
          <a:xfrm>
            <a:off x="6807928" y="880136"/>
            <a:ext cx="5505083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 smtClean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Authentication </a:t>
            </a:r>
            <a:r>
              <a:rPr lang="en-IN" sz="16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&amp;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Admin Login: Secure login using JWT 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Role Control: Admin-only access using Role-Based Access Control (RBAC)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Dashboard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Statistics Cards: Total Users, Total Tours, Total Bookings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Quick Insights: Recent booking inquiries and tour activity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Tour Management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Create Tour: Add new tour with itinerary and images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Update Tour: Modify tour details and pricing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Delete Tour: Remove tour from system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Booking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View Bookings: List of all booking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Status Control: Confirm or reject bookings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User-Tour Mapping: View which user booked which tour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System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User Management: View registered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Jost Medium" pitchFamily="2" charset="0"/>
                <a:ea typeface="Jost Medium" pitchFamily="2" charset="0"/>
              </a:rPr>
              <a:t>Data Monitoring: Centralized control of system data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Jost Medium" pitchFamily="2" charset="0"/>
              <a:ea typeface="Jost Medium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32" y="1106887"/>
            <a:ext cx="5804283" cy="548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707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5280" y="1182301"/>
            <a:ext cx="4425563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Basic </a:t>
            </a: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Tour Information</a:t>
            </a:r>
            <a:endParaRPr lang="en-US" sz="1200" dirty="0">
              <a:solidFill>
                <a:srgbClr val="EB2F02"/>
              </a:solidFill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Title: Tour Name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Description: Detailed tour overview and highlights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Category: Adventure / Wildlife / Heritage / Beach / 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Cultural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Tour Configuration</a:t>
            </a:r>
            <a:endParaRPr lang="en-US" sz="1200" dirty="0">
              <a:solidFill>
                <a:srgbClr val="EB2F02"/>
              </a:solidFill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Duration: Number of Days and Nights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Price Info: Price per Person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Group Size: Maximum allowed travelers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Itinerary Details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Day-wise Plan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:</a:t>
            </a: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Day 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Number</a:t>
            </a: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Daily Activities Description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Media Upload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Tour Images: Upload multiple tour images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Storage: Images stored in </a:t>
            </a:r>
            <a:r>
              <a:rPr lang="en-US" sz="1200" dirty="0" err="1">
                <a:latin typeface="Jost Medium" pitchFamily="2" charset="0"/>
                <a:ea typeface="Jost Medium" pitchFamily="2" charset="0"/>
              </a:rPr>
              <a:t>Supabase</a:t>
            </a:r>
            <a:r>
              <a:rPr lang="en-US" sz="1200" dirty="0">
                <a:latin typeface="Jost Medium" pitchFamily="2" charset="0"/>
                <a:ea typeface="Jost Medium" pitchFamily="2" charset="0"/>
              </a:rPr>
              <a:t> cloud storage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Reference: Image URLs saved in </a:t>
            </a:r>
            <a:r>
              <a:rPr lang="en-US" sz="1200" dirty="0" smtClean="0">
                <a:latin typeface="Jost Medium" pitchFamily="2" charset="0"/>
                <a:ea typeface="Jost Medium" pitchFamily="2" charset="0"/>
              </a:rPr>
              <a:t>MongoDB</a:t>
            </a:r>
            <a:endParaRPr lang="en-US" sz="1200" dirty="0">
              <a:latin typeface="Jost Medium" pitchFamily="2" charset="0"/>
              <a:ea typeface="Jost Medium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35280" y="430051"/>
            <a:ext cx="5648960" cy="896160"/>
            <a:chOff x="271780" y="351099"/>
            <a:chExt cx="5648960" cy="896160"/>
          </a:xfrm>
        </p:grpSpPr>
        <p:grpSp>
          <p:nvGrpSpPr>
            <p:cNvPr id="6" name="Group 5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8" name="Parallelogram 7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Parallelogram 8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Tour Uploads </a:t>
              </a:r>
            </a:p>
            <a:p>
              <a:endParaRPr lang="en-IN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4610082" y="878131"/>
            <a:ext cx="3068230" cy="207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Admin Association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Created By: Linked to Admin Profile who uploads the tour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Created Date: Auto-generated timestamp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19"/>
          <a:stretch/>
        </p:blipFill>
        <p:spPr>
          <a:xfrm>
            <a:off x="7382155" y="237785"/>
            <a:ext cx="4216492" cy="647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063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08370" y="978981"/>
            <a:ext cx="4968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Tour Listing Management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View Tours: Display all uploaded tours in tabular/card format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Search &amp; Filter: Filter tours by category or status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Update Tour Details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Edit Info: Modify title, description, price, duration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Edit Itinerary: Update day-wise travel plan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Update Images: Add or remove tour images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Delete Tour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Remove Tour: Permanently delete tour from system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Catalog Sync: Tour removed instantly from user view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System Integrity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Data Validation: Ensures correct and complete tour data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Jost Medium" pitchFamily="2" charset="0"/>
                <a:ea typeface="Jost Medium" pitchFamily="2" charset="0"/>
              </a:rPr>
              <a:t>Real-Time Update: Changes reflected immediately across platform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Jost Medium" pitchFamily="2" charset="0"/>
              <a:ea typeface="Jost Medium" pitchFamily="2" charset="0"/>
            </a:endParaRPr>
          </a:p>
          <a:p>
            <a:pPr>
              <a:lnSpc>
                <a:spcPct val="150000"/>
              </a:lnSpc>
            </a:pPr>
            <a:endParaRPr lang="en-US" sz="1200" dirty="0" smtClean="0">
              <a:latin typeface="Jost Medium" pitchFamily="2" charset="0"/>
              <a:ea typeface="Jost Medium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411147" y="282128"/>
            <a:ext cx="5648960" cy="896160"/>
            <a:chOff x="271780" y="351099"/>
            <a:chExt cx="5648960" cy="896160"/>
          </a:xfrm>
        </p:grpSpPr>
        <p:grpSp>
          <p:nvGrpSpPr>
            <p:cNvPr id="6" name="Group 5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8" name="Parallelogram 7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Parallelogram 8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Tour Management</a:t>
              </a:r>
              <a:endParaRPr lang="en-US" altLang="en-US" sz="2800" b="1" dirty="0">
                <a:solidFill>
                  <a:srgbClr val="EB2F02"/>
                </a:solidFill>
                <a:latin typeface="Big Shoulders Text" pitchFamily="2" charset="0"/>
              </a:endParaRPr>
            </a:p>
            <a:p>
              <a:endParaRPr lang="en-IN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88" y="360485"/>
            <a:ext cx="5415746" cy="598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921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14960" y="1223315"/>
            <a:ext cx="3901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Big Shoulders Text" pitchFamily="2" charset="0"/>
              </a:rPr>
              <a:t>The system follows a clean, layered architecture ensuring separation between frontend, backend, and database. It provides enhanced security through role-based access and secure authentication while supporting scalability and easy future enhancements.</a:t>
            </a:r>
            <a:endParaRPr lang="en-IN" sz="1600" dirty="0">
              <a:solidFill>
                <a:schemeClr val="accent6"/>
              </a:solidFill>
              <a:latin typeface="Big Shoulders Text" pitchFamily="2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7" r="11616"/>
          <a:stretch/>
        </p:blipFill>
        <p:spPr>
          <a:xfrm>
            <a:off x="362566" y="3123571"/>
            <a:ext cx="3210560" cy="3352800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4805680" y="388815"/>
            <a:ext cx="7020560" cy="1889760"/>
            <a:chOff x="4805680" y="406400"/>
            <a:chExt cx="7020560" cy="1889760"/>
          </a:xfrm>
        </p:grpSpPr>
        <p:sp>
          <p:nvSpPr>
            <p:cNvPr id="2" name="Rectangle 1"/>
            <p:cNvSpPr/>
            <p:nvPr/>
          </p:nvSpPr>
          <p:spPr>
            <a:xfrm>
              <a:off x="5090160" y="406400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805680" y="406400"/>
              <a:ext cx="1889760" cy="1889760"/>
              <a:chOff x="6766560" y="2753360"/>
              <a:chExt cx="2875280" cy="2875280"/>
            </a:xfr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grpSpPr>
          <p:sp>
            <p:nvSpPr>
              <p:cNvPr id="7" name="Rounded Rectangle 6"/>
              <p:cNvSpPr/>
              <p:nvPr/>
            </p:nvSpPr>
            <p:spPr>
              <a:xfrm>
                <a:off x="6766560" y="2753360"/>
                <a:ext cx="2875280" cy="287528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6766560" y="2753360"/>
                <a:ext cx="1930400" cy="1930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711441" y="3698241"/>
                <a:ext cx="1930399" cy="19303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6898640" y="594638"/>
              <a:ext cx="45049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Big Shoulders Text" pitchFamily="2" charset="0"/>
                </a:rPr>
                <a:t>Modular &amp; Component based Design</a:t>
              </a:r>
              <a:endParaRPr lang="en-IN" sz="2800" dirty="0">
                <a:solidFill>
                  <a:srgbClr val="FF0000"/>
                </a:solidFill>
                <a:latin typeface="Big Shoulders Text" pitchFamily="2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78319" y="1233812"/>
              <a:ext cx="487699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Jost Medium" pitchFamily="2" charset="0"/>
                  <a:ea typeface="Jost Medium" pitchFamily="2" charset="0"/>
                </a:rPr>
                <a:t>The </a:t>
              </a:r>
              <a:r>
                <a:rPr lang="en-US" sz="1400" dirty="0">
                  <a:latin typeface="Jost Medium" pitchFamily="2" charset="0"/>
                  <a:ea typeface="Jost Medium" pitchFamily="2" charset="0"/>
                </a:rPr>
                <a:t>system is divided into independent modules such as authentication, tour management, booking, and admin dashboard. This modular approach improves maintainability and allows easy updates or feature additions.</a:t>
              </a:r>
              <a:endParaRPr lang="en-IN" sz="1400" dirty="0">
                <a:latin typeface="Jost Medium" pitchFamily="2" charset="0"/>
                <a:ea typeface="Jost Medium" pitchFamily="2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14960" y="348852"/>
            <a:ext cx="4165600" cy="896160"/>
            <a:chOff x="271780" y="351099"/>
            <a:chExt cx="5648960" cy="896160"/>
          </a:xfrm>
        </p:grpSpPr>
        <p:grpSp>
          <p:nvGrpSpPr>
            <p:cNvPr id="34" name="Group 33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36" name="Parallelogram 35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Parallelogram 36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Technical Architecture</a:t>
              </a:r>
            </a:p>
            <a:p>
              <a:endParaRPr lang="en-IN" dirty="0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4912357" y="2499815"/>
            <a:ext cx="6913883" cy="1889760"/>
            <a:chOff x="4977998" y="2683147"/>
            <a:chExt cx="6913883" cy="1889760"/>
          </a:xfrm>
        </p:grpSpPr>
        <p:sp>
          <p:nvSpPr>
            <p:cNvPr id="54" name="Rectangle 53"/>
            <p:cNvSpPr/>
            <p:nvPr/>
          </p:nvSpPr>
          <p:spPr>
            <a:xfrm>
              <a:off x="5155801" y="2683147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40879" y="2878539"/>
              <a:ext cx="321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Big Shoulders Text" pitchFamily="2" charset="0"/>
                </a:rPr>
                <a:t>Enhanced Security</a:t>
              </a:r>
              <a:endParaRPr lang="en-IN" sz="2800" dirty="0">
                <a:solidFill>
                  <a:srgbClr val="FF0000"/>
                </a:solidFill>
                <a:latin typeface="Big Shoulders Text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20560" y="3398174"/>
              <a:ext cx="417576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Jost Medium" pitchFamily="2" charset="0"/>
                  <a:ea typeface="Jost Medium" pitchFamily="2" charset="0"/>
                </a:rPr>
                <a:t>Secure </a:t>
              </a:r>
              <a:r>
                <a:rPr lang="en-US" sz="1400" dirty="0">
                  <a:latin typeface="Jost Medium" pitchFamily="2" charset="0"/>
                  <a:ea typeface="Jost Medium" pitchFamily="2" charset="0"/>
                </a:rPr>
                <a:t>authentication is implemented using JWT and encrypted passwords. Role-based access control ensures that only authorized users can access sensitive admin functionalities.</a:t>
              </a:r>
              <a:endParaRPr lang="en-IN" sz="1400" dirty="0">
                <a:latin typeface="Jost Medium" pitchFamily="2" charset="0"/>
                <a:ea typeface="Jost Medium" pitchFamily="2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4977998" y="2683147"/>
              <a:ext cx="1889761" cy="1889760"/>
              <a:chOff x="6766558" y="2753359"/>
              <a:chExt cx="2875282" cy="2875281"/>
            </a:xfr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grpSpPr>
          <p:sp>
            <p:nvSpPr>
              <p:cNvPr id="70" name="Rounded Rectangle 69"/>
              <p:cNvSpPr/>
              <p:nvPr/>
            </p:nvSpPr>
            <p:spPr>
              <a:xfrm>
                <a:off x="6766559" y="2753359"/>
                <a:ext cx="2875279" cy="2875279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6766558" y="2753359"/>
                <a:ext cx="1930398" cy="19303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711441" y="3698241"/>
                <a:ext cx="1930399" cy="19303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4947920" y="4593229"/>
            <a:ext cx="6878320" cy="1950720"/>
            <a:chOff x="5090160" y="4688860"/>
            <a:chExt cx="6878320" cy="1950720"/>
          </a:xfrm>
        </p:grpSpPr>
        <p:sp>
          <p:nvSpPr>
            <p:cNvPr id="62" name="Rectangle 61"/>
            <p:cNvSpPr/>
            <p:nvPr/>
          </p:nvSpPr>
          <p:spPr>
            <a:xfrm>
              <a:off x="5232400" y="4694032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5090160" y="4688860"/>
              <a:ext cx="1950720" cy="1950720"/>
              <a:chOff x="6766559" y="2753359"/>
              <a:chExt cx="2875281" cy="2875281"/>
            </a:xfr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grpSpPr>
          <p:sp>
            <p:nvSpPr>
              <p:cNvPr id="15" name="Rounded Rectangle 14"/>
              <p:cNvSpPr/>
              <p:nvPr/>
            </p:nvSpPr>
            <p:spPr>
              <a:xfrm>
                <a:off x="6766559" y="2753359"/>
                <a:ext cx="2875279" cy="2875279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766559" y="2753359"/>
                <a:ext cx="1930399" cy="19303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7711441" y="3698241"/>
                <a:ext cx="1930399" cy="19303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7183119" y="4935297"/>
              <a:ext cx="4175760" cy="1537514"/>
              <a:chOff x="1536046" y="5130836"/>
              <a:chExt cx="4175760" cy="1537514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536046" y="5130836"/>
                <a:ext cx="38000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Big Shoulders Text" pitchFamily="2" charset="0"/>
                  </a:rPr>
                  <a:t>Scalability &amp; Performance</a:t>
                </a:r>
                <a:endParaRPr lang="en-IN" sz="2800" dirty="0">
                  <a:solidFill>
                    <a:srgbClr val="FF0000"/>
                  </a:solidFill>
                  <a:latin typeface="Big Shoulders Text" pitchFamily="2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536046" y="5714243"/>
                <a:ext cx="417576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Jost Medium" pitchFamily="2" charset="0"/>
                    <a:ea typeface="Jost Medium" pitchFamily="2" charset="0"/>
                  </a:rPr>
                  <a:t>The stateless backend architecture supports horizontal scaling. Optimized database design ensures fast tour retrieval and smooth handling of increased user traffic.</a:t>
                </a:r>
                <a:endParaRPr lang="en-IN" sz="1400" dirty="0">
                  <a:latin typeface="Jost Medium" pitchFamily="2" charset="0"/>
                  <a:ea typeface="Jost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355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2763119" y="568053"/>
            <a:ext cx="6736080" cy="2175020"/>
            <a:chOff x="5090160" y="406400"/>
            <a:chExt cx="6736080" cy="2175020"/>
          </a:xfrm>
        </p:grpSpPr>
        <p:sp>
          <p:nvSpPr>
            <p:cNvPr id="2" name="Rectangle 1"/>
            <p:cNvSpPr/>
            <p:nvPr/>
          </p:nvSpPr>
          <p:spPr>
            <a:xfrm>
              <a:off x="5090160" y="406400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40879" y="621695"/>
              <a:ext cx="321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Big Shoulders Text" pitchFamily="2" charset="0"/>
                </a:rPr>
                <a:t>frontend:</a:t>
              </a:r>
              <a:endParaRPr lang="en-IN" sz="2800" dirty="0">
                <a:solidFill>
                  <a:srgbClr val="FF0000"/>
                </a:solidFill>
                <a:latin typeface="Big Shoulders Text" pitchFamily="2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89586" y="1042537"/>
              <a:ext cx="417576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600" dirty="0" smtClean="0">
                  <a:latin typeface="Jost Medium" pitchFamily="2" charset="0"/>
                  <a:ea typeface="Jost Medium" pitchFamily="2" charset="0"/>
                </a:rPr>
                <a:t>React.js </a:t>
              </a: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- Interactive user interface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CSS3 - Responsive design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HTML5 - Semantic structure</a:t>
              </a:r>
            </a:p>
            <a:p>
              <a:pPr>
                <a:lnSpc>
                  <a:spcPct val="150000"/>
                </a:lnSpc>
              </a:pPr>
              <a:endParaRPr lang="en-IN" sz="1600" dirty="0">
                <a:latin typeface="Jost Medium" pitchFamily="2" charset="0"/>
                <a:ea typeface="Jost Medium" pitchFamily="2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29194" y="261397"/>
            <a:ext cx="2360001" cy="720595"/>
            <a:chOff x="271780" y="351099"/>
            <a:chExt cx="5648960" cy="930924"/>
          </a:xfrm>
        </p:grpSpPr>
        <p:grpSp>
          <p:nvGrpSpPr>
            <p:cNvPr id="34" name="Group 33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36" name="Parallelogram 35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Parallelogram 36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739140" y="447039"/>
              <a:ext cx="5181600" cy="83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b="1" dirty="0" smtClean="0">
                  <a:solidFill>
                    <a:srgbClr val="EB2F02"/>
                  </a:solidFill>
                  <a:latin typeface="Big Shoulders Text" pitchFamily="2" charset="0"/>
                </a:rPr>
                <a:t>Technology Stacks</a:t>
              </a:r>
            </a:p>
            <a:p>
              <a:endParaRPr lang="en-IN" dirty="0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2763119" y="2661468"/>
            <a:ext cx="6736080" cy="2071726"/>
            <a:chOff x="5155801" y="2683147"/>
            <a:chExt cx="6736080" cy="2071726"/>
          </a:xfrm>
        </p:grpSpPr>
        <p:sp>
          <p:nvSpPr>
            <p:cNvPr id="54" name="Rectangle 53"/>
            <p:cNvSpPr/>
            <p:nvPr/>
          </p:nvSpPr>
          <p:spPr>
            <a:xfrm>
              <a:off x="5155801" y="2683147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40879" y="2878539"/>
              <a:ext cx="321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Big Shoulders Text" pitchFamily="2" charset="0"/>
                </a:rPr>
                <a:t>Backend</a:t>
              </a:r>
              <a:endParaRPr lang="en-IN" sz="2800" dirty="0">
                <a:solidFill>
                  <a:srgbClr val="FF0000"/>
                </a:solidFill>
                <a:latin typeface="Big Shoulders Text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40879" y="3308323"/>
              <a:ext cx="41757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600" dirty="0" err="1" smtClean="0">
                  <a:latin typeface="Jost Medium" pitchFamily="2" charset="0"/>
                  <a:ea typeface="Jost Medium" pitchFamily="2" charset="0"/>
                </a:rPr>
                <a:t>Nodejs</a:t>
              </a:r>
              <a:r>
                <a:rPr lang="en-IN" sz="1600" dirty="0" smtClean="0">
                  <a:latin typeface="Jost Medium" pitchFamily="2" charset="0"/>
                  <a:ea typeface="Jost Medium" pitchFamily="2" charset="0"/>
                </a:rPr>
                <a:t> - </a:t>
              </a: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Server environment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Express.js - API framework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>
                  <a:latin typeface="Jost Medium" pitchFamily="2" charset="0"/>
                  <a:ea typeface="Jost Medium" pitchFamily="2" charset="0"/>
                </a:rPr>
                <a:t>MongoDB - Database management</a:t>
              </a:r>
            </a:p>
            <a:p>
              <a:endParaRPr lang="en-IN" sz="1600" dirty="0">
                <a:latin typeface="Jost Medium" pitchFamily="2" charset="0"/>
                <a:ea typeface="Jost Medium" pitchFamily="2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2763119" y="4760054"/>
            <a:ext cx="6736080" cy="1889760"/>
            <a:chOff x="5232400" y="4694032"/>
            <a:chExt cx="6736080" cy="1889760"/>
          </a:xfrm>
        </p:grpSpPr>
        <p:sp>
          <p:nvSpPr>
            <p:cNvPr id="62" name="Rectangle 61"/>
            <p:cNvSpPr/>
            <p:nvPr/>
          </p:nvSpPr>
          <p:spPr>
            <a:xfrm>
              <a:off x="5232400" y="4694032"/>
              <a:ext cx="6736080" cy="188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7183119" y="4935297"/>
              <a:ext cx="4175760" cy="1414404"/>
              <a:chOff x="1536046" y="5130836"/>
              <a:chExt cx="4175760" cy="1414404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536046" y="5130836"/>
                <a:ext cx="3210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Big Shoulders Text" pitchFamily="2" charset="0"/>
                  </a:rPr>
                  <a:t>Storage</a:t>
                </a:r>
                <a:endParaRPr lang="en-IN" sz="2800" dirty="0">
                  <a:solidFill>
                    <a:srgbClr val="FF0000"/>
                  </a:solidFill>
                  <a:latin typeface="Big Shoulders Text" pitchFamily="2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536046" y="5714243"/>
                <a:ext cx="41757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600" dirty="0" err="1">
                    <a:latin typeface="Jost Medium" pitchFamily="2" charset="0"/>
                    <a:ea typeface="Jost Medium" pitchFamily="2" charset="0"/>
                  </a:rPr>
                  <a:t>Supabase</a:t>
                </a:r>
                <a:r>
                  <a:rPr lang="en-IN" sz="1600" dirty="0">
                    <a:latin typeface="Jost Medium" pitchFamily="2" charset="0"/>
                    <a:ea typeface="Jost Medium" pitchFamily="2" charset="0"/>
                  </a:rPr>
                  <a:t> - Cloud image storage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 err="1" smtClean="0">
                    <a:latin typeface="Jost Medium" pitchFamily="2" charset="0"/>
                    <a:ea typeface="Jost Medium" pitchFamily="2" charset="0"/>
                  </a:rPr>
                  <a:t>Mongodb</a:t>
                </a:r>
                <a:r>
                  <a:rPr lang="en-US" sz="1600" dirty="0" smtClean="0">
                    <a:latin typeface="Jost Medium" pitchFamily="2" charset="0"/>
                    <a:ea typeface="Jost Medium" pitchFamily="2" charset="0"/>
                  </a:rPr>
                  <a:t> – For Data Storage</a:t>
                </a:r>
                <a:endParaRPr lang="en-IN" sz="1600" dirty="0">
                  <a:latin typeface="Jost Medium" pitchFamily="2" charset="0"/>
                  <a:ea typeface="Jost Medium" pitchFamily="2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119" y="4755587"/>
            <a:ext cx="1882437" cy="188243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7" r="11616"/>
          <a:stretch/>
        </p:blipFill>
        <p:spPr>
          <a:xfrm>
            <a:off x="2780108" y="2646051"/>
            <a:ext cx="1805778" cy="1885781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755796" y="573067"/>
            <a:ext cx="1889760" cy="188976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5280" y="1508180"/>
            <a:ext cx="49682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Enhanced User Features</a:t>
            </a:r>
          </a:p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Review and rating system for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tours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Jost Medium" pitchFamily="2" charset="0"/>
                <a:ea typeface="Jost Medium" pitchFamily="2" charset="0"/>
              </a:rPr>
              <a:t>Wishlist</a:t>
            </a:r>
            <a:r>
              <a:rPr lang="en-US" sz="1600" dirty="0">
                <a:latin typeface="Jost Medium" pitchFamily="2" charset="0"/>
                <a:ea typeface="Jost Medium" pitchFamily="2" charset="0"/>
              </a:rPr>
              <a:t>/favorites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functionality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Social sharing capabilities</a:t>
            </a:r>
          </a:p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3. Mobile Application</a:t>
            </a:r>
          </a:p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React Native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development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Push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notifications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Offline tour browsing</a:t>
            </a:r>
          </a:p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endParaRPr lang="en-US" sz="1600" dirty="0">
              <a:latin typeface="Jost Medium" pitchFamily="2" charset="0"/>
              <a:ea typeface="Jost Medium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95797" y="2567296"/>
            <a:ext cx="2891403" cy="423186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/>
          <p:cNvGrpSpPr/>
          <p:nvPr/>
        </p:nvGrpSpPr>
        <p:grpSpPr>
          <a:xfrm>
            <a:off x="335280" y="516080"/>
            <a:ext cx="5648960" cy="896160"/>
            <a:chOff x="271780" y="351099"/>
            <a:chExt cx="5648960" cy="896160"/>
          </a:xfrm>
        </p:grpSpPr>
        <p:grpSp>
          <p:nvGrpSpPr>
            <p:cNvPr id="6" name="Group 5"/>
            <p:cNvGrpSpPr/>
            <p:nvPr/>
          </p:nvGrpSpPr>
          <p:grpSpPr>
            <a:xfrm>
              <a:off x="271780" y="351099"/>
              <a:ext cx="5580380" cy="686541"/>
              <a:chOff x="1333887" y="5682509"/>
              <a:chExt cx="3846443" cy="686541"/>
            </a:xfrm>
          </p:grpSpPr>
          <p:sp>
            <p:nvSpPr>
              <p:cNvPr id="8" name="Parallelogram 7"/>
              <p:cNvSpPr/>
              <p:nvPr/>
            </p:nvSpPr>
            <p:spPr>
              <a:xfrm>
                <a:off x="1333887" y="5682509"/>
                <a:ext cx="3783657" cy="686541"/>
              </a:xfrm>
              <a:prstGeom prst="parallelogram">
                <a:avLst/>
              </a:prstGeom>
              <a:solidFill>
                <a:srgbClr val="EB2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Parallelogram 8"/>
              <p:cNvSpPr/>
              <p:nvPr/>
            </p:nvSpPr>
            <p:spPr>
              <a:xfrm>
                <a:off x="1503872" y="5682510"/>
                <a:ext cx="3676458" cy="686540"/>
              </a:xfrm>
              <a:prstGeom prst="parallelogram">
                <a:avLst/>
              </a:prstGeom>
              <a:solidFill>
                <a:srgbClr val="9DBD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739140" y="447040"/>
              <a:ext cx="51816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en-US" sz="2800" b="1" dirty="0" smtClean="0">
                  <a:solidFill>
                    <a:srgbClr val="EB2F02"/>
                  </a:solidFill>
                  <a:latin typeface="Big Shoulders Text" pitchFamily="2" charset="0"/>
                </a:rPr>
                <a:t>Scalability &amp; Future Enhancement</a:t>
              </a:r>
              <a:endParaRPr lang="en-US" altLang="en-US" sz="2800" b="1" dirty="0">
                <a:solidFill>
                  <a:srgbClr val="EB2F02"/>
                </a:solidFill>
                <a:latin typeface="Big Shoulders Text" pitchFamily="2" charset="0"/>
              </a:endParaRPr>
            </a:p>
            <a:p>
              <a:endParaRPr lang="en-IN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5397410" y="1202621"/>
            <a:ext cx="3839817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5. AI-Powered Features</a:t>
            </a:r>
          </a:p>
          <a:p>
            <a:endParaRPr lang="en-US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Jost Medium" pitchFamily="2" charset="0"/>
                <a:ea typeface="Jost Medium" pitchFamily="2" charset="0"/>
              </a:rPr>
              <a:t>Personalized tour recommendations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Jost Medium" pitchFamily="2" charset="0"/>
                <a:ea typeface="Jost Medium" pitchFamily="2" charset="0"/>
              </a:rPr>
              <a:t>Chatbot</a:t>
            </a:r>
            <a:r>
              <a:rPr lang="en-US" dirty="0">
                <a:latin typeface="Jost Medium" pitchFamily="2" charset="0"/>
                <a:ea typeface="Jost Medium" pitchFamily="2" charset="0"/>
              </a:rPr>
              <a:t> for customer support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Jost Medium" pitchFamily="2" charset="0"/>
                <a:ea typeface="Jost Medium" pitchFamily="2" charset="0"/>
              </a:rPr>
              <a:t>Dynamic pricing based on demand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solidFill>
                <a:srgbClr val="EB2F02"/>
              </a:solidFill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Platform </a:t>
            </a:r>
            <a:r>
              <a:rPr lang="en-US" dirty="0">
                <a:solidFill>
                  <a:srgbClr val="EB2F02"/>
                </a:solidFill>
                <a:latin typeface="Jost Medium" pitchFamily="2" charset="0"/>
                <a:ea typeface="Jost Medium" pitchFamily="2" charset="0"/>
              </a:rPr>
              <a:t>Expansion</a:t>
            </a:r>
          </a:p>
          <a:p>
            <a:endParaRPr lang="en-US" dirty="0" smtClean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Multi-language support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International payment </a:t>
            </a:r>
            <a:r>
              <a:rPr lang="en-US" sz="1600" dirty="0" smtClean="0">
                <a:latin typeface="Jost Medium" pitchFamily="2" charset="0"/>
                <a:ea typeface="Jost Medium" pitchFamily="2" charset="0"/>
              </a:rPr>
              <a:t>methods</a:t>
            </a:r>
            <a:endParaRPr lang="en-US" sz="1600" dirty="0">
              <a:latin typeface="Jost Medium" pitchFamily="2" charset="0"/>
              <a:ea typeface="Jos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Jost Medium" pitchFamily="2" charset="0"/>
                <a:ea typeface="Jost Medium" pitchFamily="2" charset="0"/>
              </a:rPr>
              <a:t>Integration with hotel/flight booking</a:t>
            </a:r>
            <a:endParaRPr lang="en-IN" sz="1600" dirty="0">
              <a:latin typeface="Jost Medium" pitchFamily="2" charset="0"/>
              <a:ea typeface="Jos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720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1086"/>
            <a:ext cx="12192000" cy="39189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" y="3859823"/>
            <a:ext cx="12192000" cy="2998177"/>
          </a:xfrm>
          <a:prstGeom prst="rect">
            <a:avLst/>
          </a:prstGeom>
          <a:solidFill>
            <a:srgbClr val="DCEAFB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40574" y="2749452"/>
            <a:ext cx="7710853" cy="3147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6000" dirty="0">
              <a:solidFill>
                <a:schemeClr val="bg1"/>
              </a:solidFill>
              <a:latin typeface="Tw Cen MT Condensed" panose="020B0606020104020203" pitchFamily="34" charset="0"/>
              <a:cs typeface="Zawya Pro Wide Normal" pitchFamily="50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90397" y="3230768"/>
            <a:ext cx="6536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  <a:cs typeface="Zawya Pro Wide Normal" pitchFamily="50" charset="-78"/>
              </a:rPr>
              <a:t>GlobeTrails</a:t>
            </a:r>
            <a:r>
              <a:rPr lang="en-US" sz="4800" dirty="0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  <a:cs typeface="Zawya Pro Wide Normal" pitchFamily="50" charset="-78"/>
              </a:rPr>
              <a:t>-Tour &amp; Travel app</a:t>
            </a:r>
            <a:endParaRPr lang="en-IN" sz="4800" dirty="0">
              <a:solidFill>
                <a:schemeClr val="accent1">
                  <a:lumMod val="50000"/>
                </a:schemeClr>
              </a:solidFill>
              <a:latin typeface="Big Shoulders Text" pitchFamily="2" charset="0"/>
              <a:cs typeface="Zawya Pro Wide Normal" pitchFamily="50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7015" y="4607169"/>
            <a:ext cx="7209693" cy="914400"/>
          </a:xfrm>
          <a:prstGeom prst="rect">
            <a:avLst/>
          </a:prstGeom>
          <a:solidFill>
            <a:srgbClr val="DCEA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Big Shoulders Text" pitchFamily="2" charset="0"/>
              </a:rPr>
              <a:t>Domestic &amp; International Travel Packages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Big Shoulders Text" pitchFamily="2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130800" y="1620911"/>
            <a:ext cx="1656080" cy="16560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242560" y="1735797"/>
            <a:ext cx="1432560" cy="14325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380" y="315964"/>
            <a:ext cx="2595200" cy="637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66388" y="5777385"/>
            <a:ext cx="8059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smtClean="0">
                <a:solidFill>
                  <a:srgbClr val="EB2F02"/>
                </a:solidFill>
                <a:latin typeface="Big Shoulders Text" pitchFamily="2" charset="0"/>
              </a:rPr>
              <a:t>Thank You</a:t>
            </a:r>
            <a:endParaRPr lang="en-IN" sz="7200" dirty="0">
              <a:solidFill>
                <a:srgbClr val="EB2F02"/>
              </a:solidFill>
              <a:latin typeface="Big Shoulders Text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267" y="1780378"/>
            <a:ext cx="1337145" cy="13371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796504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765</TotalTime>
  <Words>1002</Words>
  <Application>Microsoft Office PowerPoint</Application>
  <PresentationFormat>Widescreen</PresentationFormat>
  <Paragraphs>227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Agency FB</vt:lpstr>
      <vt:lpstr>Arial</vt:lpstr>
      <vt:lpstr>Arial Narrow</vt:lpstr>
      <vt:lpstr>Big Shoulders Text</vt:lpstr>
      <vt:lpstr>Calibri</vt:lpstr>
      <vt:lpstr>Calibri Light</vt:lpstr>
      <vt:lpstr>Courier New</vt:lpstr>
      <vt:lpstr>Jost Medium</vt:lpstr>
      <vt:lpstr>Tw Cen MT Condensed</vt:lpstr>
      <vt:lpstr>Wingdings</vt:lpstr>
      <vt:lpstr>Zawya Pro Wide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62</cp:revision>
  <dcterms:created xsi:type="dcterms:W3CDTF">2025-09-22T04:50:43Z</dcterms:created>
  <dcterms:modified xsi:type="dcterms:W3CDTF">2026-03-31T08:18:26Z</dcterms:modified>
</cp:coreProperties>
</file>